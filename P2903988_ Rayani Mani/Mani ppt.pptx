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Inconsolata" pitchFamily="1" charset="0"/>
      <p:regular r:id="rId14"/>
    </p:embeddedFont>
    <p:embeddedFont>
      <p:font typeface="Montserrat Black" panose="00000A00000000000000" pitchFamily="2" charset="0"/>
      <p:regular r:id="rId15"/>
    </p:embeddedFont>
    <p:embeddedFont>
      <p:font typeface="Montserrat Light" panose="00000400000000000000"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9307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txBody>
          <a:bodyPr/>
          <a:lstStyle/>
          <a:p>
            <a:endParaRPr lang="en-IN"/>
          </a:p>
        </p:txBody>
      </p:sp>
      <p:sp>
        <p:nvSpPr>
          <p:cNvPr id="3" name="Shape 1"/>
          <p:cNvSpPr/>
          <p:nvPr/>
        </p:nvSpPr>
        <p:spPr>
          <a:xfrm>
            <a:off x="0" y="0"/>
            <a:ext cx="14630400" cy="8229600"/>
          </a:xfrm>
          <a:prstGeom prst="rect">
            <a:avLst/>
          </a:prstGeom>
          <a:solidFill>
            <a:srgbClr val="F8ECE4"/>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032046"/>
            <a:ext cx="7737277"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Fashion MNIST Classification</a:t>
            </a:r>
            <a:endParaRPr lang="en-US" sz="3900" dirty="0"/>
          </a:p>
        </p:txBody>
      </p:sp>
      <p:sp>
        <p:nvSpPr>
          <p:cNvPr id="3" name="Text 1"/>
          <p:cNvSpPr/>
          <p:nvPr/>
        </p:nvSpPr>
        <p:spPr>
          <a:xfrm>
            <a:off x="793790" y="3731419"/>
            <a:ext cx="3645456"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Neural System Coursework</a:t>
            </a:r>
            <a:endParaRPr lang="en-US" sz="1950" dirty="0"/>
          </a:p>
        </p:txBody>
      </p:sp>
      <p:sp>
        <p:nvSpPr>
          <p:cNvPr id="4" name="Text 2"/>
          <p:cNvSpPr/>
          <p:nvPr/>
        </p:nvSpPr>
        <p:spPr>
          <a:xfrm>
            <a:off x="793790" y="4339233"/>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P2903988 | Rayani Mani Raghavendra</a:t>
            </a:r>
            <a:endParaRPr lang="en-US" sz="1550" dirty="0"/>
          </a:p>
        </p:txBody>
      </p:sp>
      <p:sp>
        <p:nvSpPr>
          <p:cNvPr id="5" name="Text 3"/>
          <p:cNvSpPr/>
          <p:nvPr/>
        </p:nvSpPr>
        <p:spPr>
          <a:xfrm>
            <a:off x="793790" y="4880015"/>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Neural Systems Course</a:t>
            </a:r>
          </a:p>
          <a:p>
            <a:pPr marL="0" indent="0" algn="l">
              <a:lnSpc>
                <a:spcPts val="2500"/>
              </a:lnSpc>
              <a:buNone/>
            </a:pP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88394"/>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Introduction</a:t>
            </a:r>
            <a:endParaRPr lang="en-US" sz="3900" dirty="0"/>
          </a:p>
        </p:txBody>
      </p:sp>
      <p:sp>
        <p:nvSpPr>
          <p:cNvPr id="3" name="Text 1"/>
          <p:cNvSpPr/>
          <p:nvPr/>
        </p:nvSpPr>
        <p:spPr>
          <a:xfrm>
            <a:off x="793790" y="3504486"/>
            <a:ext cx="3243858" cy="372070"/>
          </a:xfrm>
          <a:prstGeom prst="rect">
            <a:avLst/>
          </a:prstGeom>
          <a:noFill/>
          <a:ln/>
        </p:spPr>
        <p:txBody>
          <a:bodyPr wrap="none" lIns="0" tIns="0" rIns="0" bIns="0" rtlCol="0" anchor="t"/>
          <a:lstStyle/>
          <a:p>
            <a:pPr marL="0" indent="0" algn="l">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Project Background</a:t>
            </a:r>
            <a:endParaRPr lang="en-US" sz="2300" dirty="0"/>
          </a:p>
        </p:txBody>
      </p:sp>
      <p:sp>
        <p:nvSpPr>
          <p:cNvPr id="4" name="Text 2"/>
          <p:cNvSpPr/>
          <p:nvPr/>
        </p:nvSpPr>
        <p:spPr>
          <a:xfrm>
            <a:off x="793790" y="4074914"/>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This study explores image classification using the Fashion MNIST dataset, consisting of 70,000 grayscale images across 10 fashion categories. The dataset presents a challenging classification problem due to visual similarities between clothing items.</a:t>
            </a:r>
            <a:endParaRPr lang="en-US" sz="1550" dirty="0"/>
          </a:p>
        </p:txBody>
      </p:sp>
      <p:sp>
        <p:nvSpPr>
          <p:cNvPr id="5" name="Text 3"/>
          <p:cNvSpPr/>
          <p:nvPr/>
        </p:nvSpPr>
        <p:spPr>
          <a:xfrm>
            <a:off x="7564874" y="3504486"/>
            <a:ext cx="3046214" cy="372070"/>
          </a:xfrm>
          <a:prstGeom prst="rect">
            <a:avLst/>
          </a:prstGeom>
          <a:noFill/>
          <a:ln/>
        </p:spPr>
        <p:txBody>
          <a:bodyPr wrap="none" lIns="0" tIns="0" rIns="0" bIns="0" rtlCol="0" anchor="t"/>
          <a:lstStyle/>
          <a:p>
            <a:pPr marL="0" indent="0" algn="l">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Research Question</a:t>
            </a:r>
            <a:endParaRPr lang="en-US" sz="2300" dirty="0"/>
          </a:p>
        </p:txBody>
      </p:sp>
      <p:sp>
        <p:nvSpPr>
          <p:cNvPr id="6" name="Text 4"/>
          <p:cNvSpPr/>
          <p:nvPr/>
        </p:nvSpPr>
        <p:spPr>
          <a:xfrm>
            <a:off x="7564874" y="4074914"/>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Which neural network architecture—Artificial Neural Network (ANN) or Convolutional Neural Network (CNN)—performs better at accurately distinguishing fashion items? This comparison aims to demonstrate the effectiveness of different deep learning approaches.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883450"/>
            <a:ext cx="5022413"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Objectives &amp; Goals</a:t>
            </a:r>
            <a:endParaRPr lang="en-US" sz="3900" dirty="0"/>
          </a:p>
        </p:txBody>
      </p:sp>
      <p:sp>
        <p:nvSpPr>
          <p:cNvPr id="3" name="Shape 1"/>
          <p:cNvSpPr/>
          <p:nvPr/>
        </p:nvSpPr>
        <p:spPr>
          <a:xfrm>
            <a:off x="793790" y="2900363"/>
            <a:ext cx="4215289" cy="2587466"/>
          </a:xfrm>
          <a:prstGeom prst="roundRect">
            <a:avLst>
              <a:gd name="adj" fmla="val 353"/>
            </a:avLst>
          </a:prstGeom>
          <a:solidFill>
            <a:srgbClr val="F8ECE4"/>
          </a:solidFill>
          <a:ln w="7620">
            <a:solidFill>
              <a:srgbClr val="151617"/>
            </a:solidFill>
            <a:prstDash val="solid"/>
          </a:ln>
          <a:effectLst>
            <a:outerShdw dist="17780" dir="2700000" algn="bl" rotWithShape="0">
              <a:srgbClr val="151617">
                <a:alpha val="100000"/>
              </a:srgbClr>
            </a:outerShdw>
          </a:effectLst>
        </p:spPr>
        <p:txBody>
          <a:bodyPr/>
          <a:lstStyle/>
          <a:p>
            <a:endParaRPr lang="en-IN"/>
          </a:p>
        </p:txBody>
      </p:sp>
      <p:sp>
        <p:nvSpPr>
          <p:cNvPr id="4" name="Shape 2"/>
          <p:cNvSpPr/>
          <p:nvPr/>
        </p:nvSpPr>
        <p:spPr>
          <a:xfrm>
            <a:off x="999768" y="3106341"/>
            <a:ext cx="595313" cy="595313"/>
          </a:xfrm>
          <a:prstGeom prst="roundRect">
            <a:avLst>
              <a:gd name="adj" fmla="val 15358451"/>
            </a:avLst>
          </a:prstGeom>
          <a:solidFill>
            <a:srgbClr val="151617"/>
          </a:solidFill>
          <a:ln/>
        </p:spPr>
        <p:txBody>
          <a:bodyPr/>
          <a:lstStyle/>
          <a:p>
            <a:endParaRPr lang="en-I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3269933"/>
            <a:ext cx="267891" cy="267891"/>
          </a:xfrm>
          <a:prstGeom prst="rect">
            <a:avLst/>
          </a:prstGeom>
        </p:spPr>
      </p:pic>
      <p:sp>
        <p:nvSpPr>
          <p:cNvPr id="6" name="Text 3"/>
          <p:cNvSpPr/>
          <p:nvPr/>
        </p:nvSpPr>
        <p:spPr>
          <a:xfrm>
            <a:off x="999768" y="3900011"/>
            <a:ext cx="3287435"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Build &amp; Compare Models</a:t>
            </a:r>
            <a:endParaRPr lang="en-US" sz="1950" dirty="0"/>
          </a:p>
        </p:txBody>
      </p:sp>
      <p:sp>
        <p:nvSpPr>
          <p:cNvPr id="7" name="Text 4"/>
          <p:cNvSpPr/>
          <p:nvPr/>
        </p:nvSpPr>
        <p:spPr>
          <a:xfrm>
            <a:off x="999768" y="4329232"/>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Develop two distinct neural network architectures (ANN and CNN) for fashion image classification</a:t>
            </a:r>
            <a:endParaRPr lang="en-US" sz="1550" dirty="0"/>
          </a:p>
        </p:txBody>
      </p:sp>
      <p:sp>
        <p:nvSpPr>
          <p:cNvPr id="8" name="Shape 5"/>
          <p:cNvSpPr/>
          <p:nvPr/>
        </p:nvSpPr>
        <p:spPr>
          <a:xfrm>
            <a:off x="5207437" y="2900363"/>
            <a:ext cx="4215408" cy="2587466"/>
          </a:xfrm>
          <a:prstGeom prst="roundRect">
            <a:avLst>
              <a:gd name="adj" fmla="val 353"/>
            </a:avLst>
          </a:prstGeom>
          <a:solidFill>
            <a:srgbClr val="F8ECE4"/>
          </a:solidFill>
          <a:ln w="7620">
            <a:solidFill>
              <a:srgbClr val="151617"/>
            </a:solidFill>
            <a:prstDash val="solid"/>
          </a:ln>
          <a:effectLst>
            <a:outerShdw dist="17780" dir="2700000" algn="bl" rotWithShape="0">
              <a:srgbClr val="151617">
                <a:alpha val="100000"/>
              </a:srgbClr>
            </a:outerShdw>
          </a:effectLst>
        </p:spPr>
        <p:txBody>
          <a:bodyPr/>
          <a:lstStyle/>
          <a:p>
            <a:endParaRPr lang="en-IN"/>
          </a:p>
        </p:txBody>
      </p:sp>
      <p:sp>
        <p:nvSpPr>
          <p:cNvPr id="9" name="Shape 6"/>
          <p:cNvSpPr/>
          <p:nvPr/>
        </p:nvSpPr>
        <p:spPr>
          <a:xfrm>
            <a:off x="5413415" y="3106341"/>
            <a:ext cx="595313" cy="595313"/>
          </a:xfrm>
          <a:prstGeom prst="roundRect">
            <a:avLst>
              <a:gd name="adj" fmla="val 15358451"/>
            </a:avLst>
          </a:prstGeom>
          <a:solidFill>
            <a:srgbClr val="151617"/>
          </a:solidFill>
          <a:ln/>
        </p:spPr>
        <p:txBody>
          <a:bodyPr/>
          <a:lstStyle/>
          <a:p>
            <a:endParaRPr lang="en-IN"/>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77126" y="3269933"/>
            <a:ext cx="267891" cy="267891"/>
          </a:xfrm>
          <a:prstGeom prst="rect">
            <a:avLst/>
          </a:prstGeom>
        </p:spPr>
      </p:pic>
      <p:sp>
        <p:nvSpPr>
          <p:cNvPr id="11" name="Text 7"/>
          <p:cNvSpPr/>
          <p:nvPr/>
        </p:nvSpPr>
        <p:spPr>
          <a:xfrm>
            <a:off x="5413415" y="3900011"/>
            <a:ext cx="2987993"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Evaluate Performance</a:t>
            </a:r>
            <a:endParaRPr lang="en-US" sz="1950" dirty="0"/>
          </a:p>
        </p:txBody>
      </p:sp>
      <p:sp>
        <p:nvSpPr>
          <p:cNvPr id="12" name="Text 8"/>
          <p:cNvSpPr/>
          <p:nvPr/>
        </p:nvSpPr>
        <p:spPr>
          <a:xfrm>
            <a:off x="5413415" y="4329232"/>
            <a:ext cx="3803452" cy="95261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Assess model accuracy and analyze classification patterns through confusion matrices</a:t>
            </a:r>
            <a:endParaRPr lang="en-US" sz="1550" dirty="0"/>
          </a:p>
        </p:txBody>
      </p:sp>
      <p:sp>
        <p:nvSpPr>
          <p:cNvPr id="13" name="Shape 9"/>
          <p:cNvSpPr/>
          <p:nvPr/>
        </p:nvSpPr>
        <p:spPr>
          <a:xfrm>
            <a:off x="9621203" y="2900363"/>
            <a:ext cx="4215289" cy="2587466"/>
          </a:xfrm>
          <a:prstGeom prst="roundRect">
            <a:avLst>
              <a:gd name="adj" fmla="val 353"/>
            </a:avLst>
          </a:prstGeom>
          <a:solidFill>
            <a:srgbClr val="F8ECE4"/>
          </a:solidFill>
          <a:ln w="7620">
            <a:solidFill>
              <a:srgbClr val="151617"/>
            </a:solidFill>
            <a:prstDash val="solid"/>
          </a:ln>
          <a:effectLst>
            <a:outerShdw dist="17780" dir="2700000" algn="bl" rotWithShape="0">
              <a:srgbClr val="151617">
                <a:alpha val="100000"/>
              </a:srgbClr>
            </a:outerShdw>
          </a:effectLst>
        </p:spPr>
        <p:txBody>
          <a:bodyPr/>
          <a:lstStyle/>
          <a:p>
            <a:endParaRPr lang="en-IN"/>
          </a:p>
        </p:txBody>
      </p:sp>
      <p:sp>
        <p:nvSpPr>
          <p:cNvPr id="14" name="Shape 10"/>
          <p:cNvSpPr/>
          <p:nvPr/>
        </p:nvSpPr>
        <p:spPr>
          <a:xfrm>
            <a:off x="9827181" y="3106341"/>
            <a:ext cx="595313" cy="595313"/>
          </a:xfrm>
          <a:prstGeom prst="roundRect">
            <a:avLst>
              <a:gd name="adj" fmla="val 15358451"/>
            </a:avLst>
          </a:prstGeom>
          <a:solidFill>
            <a:srgbClr val="151617"/>
          </a:solidFill>
          <a:ln/>
        </p:spPr>
        <p:txBody>
          <a:bodyPr/>
          <a:lstStyle/>
          <a:p>
            <a:endParaRPr lang="en-IN"/>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0892" y="3269933"/>
            <a:ext cx="267891" cy="267891"/>
          </a:xfrm>
          <a:prstGeom prst="rect">
            <a:avLst/>
          </a:prstGeom>
        </p:spPr>
      </p:pic>
      <p:sp>
        <p:nvSpPr>
          <p:cNvPr id="16" name="Text 11"/>
          <p:cNvSpPr/>
          <p:nvPr/>
        </p:nvSpPr>
        <p:spPr>
          <a:xfrm>
            <a:off x="9827181" y="3900011"/>
            <a:ext cx="3125986"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Identify Best Approach</a:t>
            </a:r>
            <a:endParaRPr lang="en-US" sz="1950" dirty="0"/>
          </a:p>
        </p:txBody>
      </p:sp>
      <p:sp>
        <p:nvSpPr>
          <p:cNvPr id="17" name="Text 12"/>
          <p:cNvSpPr/>
          <p:nvPr/>
        </p:nvSpPr>
        <p:spPr>
          <a:xfrm>
            <a:off x="9827181" y="4329232"/>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Determine the optimal architecture for fashion item recognition based on empirical results</a:t>
            </a:r>
            <a:endParaRPr lang="en-US" sz="1550" dirty="0"/>
          </a:p>
        </p:txBody>
      </p:sp>
      <p:sp>
        <p:nvSpPr>
          <p:cNvPr id="18" name="Text 13"/>
          <p:cNvSpPr/>
          <p:nvPr/>
        </p:nvSpPr>
        <p:spPr>
          <a:xfrm>
            <a:off x="793790" y="571107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Expected outcomes include improved understanding of neural network capabilities and practical insights into regularization techniques like dropout and data augmentation for reducing overfitting.</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76043"/>
            <a:ext cx="6878003"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Methodology &amp; Approach</a:t>
            </a:r>
            <a:endParaRPr lang="en-US" sz="3900" dirty="0"/>
          </a:p>
        </p:txBody>
      </p:sp>
      <p:sp>
        <p:nvSpPr>
          <p:cNvPr id="3" name="Text 1"/>
          <p:cNvSpPr/>
          <p:nvPr/>
        </p:nvSpPr>
        <p:spPr>
          <a:xfrm>
            <a:off x="793790" y="269295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1617"/>
                </a:solidFill>
                <a:latin typeface="Montserrat Light" pitchFamily="34" charset="0"/>
                <a:ea typeface="Montserrat Light" pitchFamily="34" charset="-122"/>
                <a:cs typeface="Montserrat Light" pitchFamily="34" charset="-120"/>
              </a:rPr>
              <a:t>01</a:t>
            </a:r>
            <a:endParaRPr lang="en-US" sz="1550" dirty="0"/>
          </a:p>
        </p:txBody>
      </p:sp>
      <p:sp>
        <p:nvSpPr>
          <p:cNvPr id="4" name="Shape 2"/>
          <p:cNvSpPr/>
          <p:nvPr/>
        </p:nvSpPr>
        <p:spPr>
          <a:xfrm>
            <a:off x="793790" y="3007281"/>
            <a:ext cx="6422231" cy="22860"/>
          </a:xfrm>
          <a:prstGeom prst="rect">
            <a:avLst/>
          </a:prstGeom>
          <a:solidFill>
            <a:srgbClr val="151617"/>
          </a:solidFill>
          <a:ln/>
        </p:spPr>
        <p:txBody>
          <a:bodyPr/>
          <a:lstStyle/>
          <a:p>
            <a:endParaRPr lang="en-IN"/>
          </a:p>
        </p:txBody>
      </p:sp>
      <p:sp>
        <p:nvSpPr>
          <p:cNvPr id="5" name="Text 3"/>
          <p:cNvSpPr/>
          <p:nvPr/>
        </p:nvSpPr>
        <p:spPr>
          <a:xfrm>
            <a:off x="793790" y="315218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Data Preparation</a:t>
            </a:r>
            <a:endParaRPr lang="en-US" sz="1950" dirty="0"/>
          </a:p>
        </p:txBody>
      </p:sp>
      <p:sp>
        <p:nvSpPr>
          <p:cNvPr id="6" name="Text 4"/>
          <p:cNvSpPr/>
          <p:nvPr/>
        </p:nvSpPr>
        <p:spPr>
          <a:xfrm>
            <a:off x="793790" y="3581400"/>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Dataset accessed via torchvision with tensor conversion and normalization. Training set split 80/20 for training and validation.</a:t>
            </a:r>
            <a:endParaRPr lang="en-US" sz="1550" dirty="0"/>
          </a:p>
        </p:txBody>
      </p:sp>
      <p:sp>
        <p:nvSpPr>
          <p:cNvPr id="7" name="Text 5"/>
          <p:cNvSpPr/>
          <p:nvPr/>
        </p:nvSpPr>
        <p:spPr>
          <a:xfrm>
            <a:off x="7414379" y="269295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1617"/>
                </a:solidFill>
                <a:latin typeface="Montserrat Light" pitchFamily="34" charset="0"/>
                <a:ea typeface="Montserrat Light" pitchFamily="34" charset="-122"/>
                <a:cs typeface="Montserrat Light" pitchFamily="34" charset="-120"/>
              </a:rPr>
              <a:t>02</a:t>
            </a:r>
            <a:endParaRPr lang="en-US" sz="1550" dirty="0"/>
          </a:p>
        </p:txBody>
      </p:sp>
      <p:sp>
        <p:nvSpPr>
          <p:cNvPr id="8" name="Shape 6"/>
          <p:cNvSpPr/>
          <p:nvPr/>
        </p:nvSpPr>
        <p:spPr>
          <a:xfrm>
            <a:off x="7414379" y="3007281"/>
            <a:ext cx="6422231" cy="22860"/>
          </a:xfrm>
          <a:prstGeom prst="rect">
            <a:avLst/>
          </a:prstGeom>
          <a:solidFill>
            <a:srgbClr val="151617"/>
          </a:solidFill>
          <a:ln/>
        </p:spPr>
        <p:txBody>
          <a:bodyPr/>
          <a:lstStyle/>
          <a:p>
            <a:endParaRPr lang="en-IN"/>
          </a:p>
        </p:txBody>
      </p:sp>
      <p:sp>
        <p:nvSpPr>
          <p:cNvPr id="9" name="Text 7"/>
          <p:cNvSpPr/>
          <p:nvPr/>
        </p:nvSpPr>
        <p:spPr>
          <a:xfrm>
            <a:off x="7414379" y="3152180"/>
            <a:ext cx="3617000"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Model Architecture Design</a:t>
            </a:r>
            <a:endParaRPr lang="en-US" sz="1950" dirty="0"/>
          </a:p>
        </p:txBody>
      </p:sp>
      <p:sp>
        <p:nvSpPr>
          <p:cNvPr id="10" name="Text 8"/>
          <p:cNvSpPr/>
          <p:nvPr/>
        </p:nvSpPr>
        <p:spPr>
          <a:xfrm>
            <a:off x="7414379" y="358140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ANN: Three linear layers with ReLU and dropout. CNN: Two convolutional layers with maxpooling and dropout.</a:t>
            </a:r>
            <a:endParaRPr lang="en-US" sz="1550" dirty="0"/>
          </a:p>
        </p:txBody>
      </p:sp>
      <p:sp>
        <p:nvSpPr>
          <p:cNvPr id="11" name="Text 9"/>
          <p:cNvSpPr/>
          <p:nvPr/>
        </p:nvSpPr>
        <p:spPr>
          <a:xfrm>
            <a:off x="793790" y="48812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1617"/>
                </a:solidFill>
                <a:latin typeface="Montserrat Light" pitchFamily="34" charset="0"/>
                <a:ea typeface="Montserrat Light" pitchFamily="34" charset="-122"/>
                <a:cs typeface="Montserrat Light" pitchFamily="34" charset="-120"/>
              </a:rPr>
              <a:t>03</a:t>
            </a:r>
            <a:endParaRPr lang="en-US" sz="1550" dirty="0"/>
          </a:p>
        </p:txBody>
      </p:sp>
      <p:sp>
        <p:nvSpPr>
          <p:cNvPr id="12" name="Shape 10"/>
          <p:cNvSpPr/>
          <p:nvPr/>
        </p:nvSpPr>
        <p:spPr>
          <a:xfrm>
            <a:off x="793790" y="5195530"/>
            <a:ext cx="6422231" cy="22860"/>
          </a:xfrm>
          <a:prstGeom prst="rect">
            <a:avLst/>
          </a:prstGeom>
          <a:solidFill>
            <a:srgbClr val="151617"/>
          </a:solidFill>
          <a:ln/>
        </p:spPr>
        <p:txBody>
          <a:bodyPr/>
          <a:lstStyle/>
          <a:p>
            <a:endParaRPr lang="en-IN"/>
          </a:p>
        </p:txBody>
      </p:sp>
      <p:sp>
        <p:nvSpPr>
          <p:cNvPr id="13" name="Text 11"/>
          <p:cNvSpPr/>
          <p:nvPr/>
        </p:nvSpPr>
        <p:spPr>
          <a:xfrm>
            <a:off x="793790" y="5340429"/>
            <a:ext cx="3048000"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Training Configuration</a:t>
            </a:r>
            <a:endParaRPr lang="en-US" sz="1950" dirty="0"/>
          </a:p>
        </p:txBody>
      </p:sp>
      <p:sp>
        <p:nvSpPr>
          <p:cNvPr id="14" name="Text 12"/>
          <p:cNvSpPr/>
          <p:nvPr/>
        </p:nvSpPr>
        <p:spPr>
          <a:xfrm>
            <a:off x="793790" y="576965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Adam optimizer with CrossEntropyLoss. Five epochs with batch size of 64 for efficient mini-batch training.</a:t>
            </a:r>
            <a:endParaRPr lang="en-US" sz="1550" dirty="0"/>
          </a:p>
        </p:txBody>
      </p:sp>
      <p:sp>
        <p:nvSpPr>
          <p:cNvPr id="15" name="Text 13"/>
          <p:cNvSpPr/>
          <p:nvPr/>
        </p:nvSpPr>
        <p:spPr>
          <a:xfrm>
            <a:off x="7414379" y="48812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1617"/>
                </a:solidFill>
                <a:latin typeface="Montserrat Light" pitchFamily="34" charset="0"/>
                <a:ea typeface="Montserrat Light" pitchFamily="34" charset="-122"/>
                <a:cs typeface="Montserrat Light" pitchFamily="34" charset="-120"/>
              </a:rPr>
              <a:t>04</a:t>
            </a:r>
            <a:endParaRPr lang="en-US" sz="1550" dirty="0"/>
          </a:p>
        </p:txBody>
      </p:sp>
      <p:sp>
        <p:nvSpPr>
          <p:cNvPr id="16" name="Shape 14"/>
          <p:cNvSpPr/>
          <p:nvPr/>
        </p:nvSpPr>
        <p:spPr>
          <a:xfrm>
            <a:off x="7414379" y="5195530"/>
            <a:ext cx="6422231" cy="22860"/>
          </a:xfrm>
          <a:prstGeom prst="rect">
            <a:avLst/>
          </a:prstGeom>
          <a:solidFill>
            <a:srgbClr val="151617"/>
          </a:solidFill>
          <a:ln/>
        </p:spPr>
        <p:txBody>
          <a:bodyPr/>
          <a:lstStyle/>
          <a:p>
            <a:endParaRPr lang="en-IN"/>
          </a:p>
        </p:txBody>
      </p:sp>
      <p:sp>
        <p:nvSpPr>
          <p:cNvPr id="17" name="Text 15"/>
          <p:cNvSpPr/>
          <p:nvPr/>
        </p:nvSpPr>
        <p:spPr>
          <a:xfrm>
            <a:off x="7414379" y="5340429"/>
            <a:ext cx="2902982"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Evaluation &amp; Analysis</a:t>
            </a:r>
            <a:endParaRPr lang="en-US" sz="1950" dirty="0"/>
          </a:p>
        </p:txBody>
      </p:sp>
      <p:sp>
        <p:nvSpPr>
          <p:cNvPr id="18" name="Text 16"/>
          <p:cNvSpPr/>
          <p:nvPr/>
        </p:nvSpPr>
        <p:spPr>
          <a:xfrm>
            <a:off x="7414379" y="576965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Test set evaluation with accuracy metrics and confusion matrices for detailed performance insights.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67828"/>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Data &amp; Materials</a:t>
            </a:r>
            <a:endParaRPr lang="en-US" sz="3900" dirty="0"/>
          </a:p>
        </p:txBody>
      </p:sp>
      <p:sp>
        <p:nvSpPr>
          <p:cNvPr id="3" name="Text 1"/>
          <p:cNvSpPr/>
          <p:nvPr/>
        </p:nvSpPr>
        <p:spPr>
          <a:xfrm>
            <a:off x="793790" y="2783919"/>
            <a:ext cx="3713917" cy="372070"/>
          </a:xfrm>
          <a:prstGeom prst="rect">
            <a:avLst/>
          </a:prstGeom>
          <a:noFill/>
          <a:ln/>
        </p:spPr>
        <p:txBody>
          <a:bodyPr wrap="none" lIns="0" tIns="0" rIns="0" bIns="0" rtlCol="0" anchor="t"/>
          <a:lstStyle/>
          <a:p>
            <a:pPr marL="0" indent="0" algn="l">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Fashion MNIST Dataset</a:t>
            </a:r>
            <a:endParaRPr lang="en-US" sz="2300" dirty="0"/>
          </a:p>
        </p:txBody>
      </p:sp>
      <p:sp>
        <p:nvSpPr>
          <p:cNvPr id="4" name="Text 2"/>
          <p:cNvSpPr/>
          <p:nvPr/>
        </p:nvSpPr>
        <p:spPr>
          <a:xfrm>
            <a:off x="793790" y="3354348"/>
            <a:ext cx="7632025" cy="95261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The dataset contains 70,000 grayscale images (28×28 pixels) divided into 10 fashion categories including t-shirts, trousers, pullovers, dresses, coats, sandals, shirts, sneakers, bags, and ankle boots.</a:t>
            </a:r>
            <a:endParaRPr lang="en-US" sz="1550" dirty="0"/>
          </a:p>
        </p:txBody>
      </p:sp>
      <p:sp>
        <p:nvSpPr>
          <p:cNvPr id="5" name="Text 3"/>
          <p:cNvSpPr/>
          <p:nvPr/>
        </p:nvSpPr>
        <p:spPr>
          <a:xfrm>
            <a:off x="793790" y="4505325"/>
            <a:ext cx="2645569"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Data Preprocessing</a:t>
            </a:r>
            <a:endParaRPr lang="en-US" sz="1950" dirty="0"/>
          </a:p>
        </p:txBody>
      </p:sp>
      <p:sp>
        <p:nvSpPr>
          <p:cNvPr id="6" name="Text 4"/>
          <p:cNvSpPr/>
          <p:nvPr/>
        </p:nvSpPr>
        <p:spPr>
          <a:xfrm>
            <a:off x="793790" y="5013841"/>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Tensor conversion and pixel value normalization</a:t>
            </a:r>
            <a:endParaRPr lang="en-US" sz="1550" dirty="0"/>
          </a:p>
        </p:txBody>
      </p:sp>
      <p:sp>
        <p:nvSpPr>
          <p:cNvPr id="7" name="Text 5"/>
          <p:cNvSpPr/>
          <p:nvPr/>
        </p:nvSpPr>
        <p:spPr>
          <a:xfrm>
            <a:off x="793790" y="5400794"/>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80/20 train-validation split from original training set</a:t>
            </a:r>
            <a:endParaRPr lang="en-US" sz="1550" dirty="0"/>
          </a:p>
        </p:txBody>
      </p:sp>
      <p:sp>
        <p:nvSpPr>
          <p:cNvPr id="8" name="Text 6"/>
          <p:cNvSpPr/>
          <p:nvPr/>
        </p:nvSpPr>
        <p:spPr>
          <a:xfrm>
            <a:off x="793790" y="5787747"/>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Random horizontal flipping and rotation for augmentation</a:t>
            </a:r>
            <a:endParaRPr lang="en-US" sz="1550" dirty="0"/>
          </a:p>
        </p:txBody>
      </p:sp>
      <p:sp>
        <p:nvSpPr>
          <p:cNvPr id="9" name="Text 7"/>
          <p:cNvSpPr/>
          <p:nvPr/>
        </p:nvSpPr>
        <p:spPr>
          <a:xfrm>
            <a:off x="793790" y="6174700"/>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Batch size of 64 for all data loaders</a:t>
            </a:r>
            <a:endParaRPr lang="en-US" sz="1550" dirty="0"/>
          </a:p>
        </p:txBody>
      </p:sp>
      <p:sp>
        <p:nvSpPr>
          <p:cNvPr id="10" name="Text 8"/>
          <p:cNvSpPr/>
          <p:nvPr/>
        </p:nvSpPr>
        <p:spPr>
          <a:xfrm>
            <a:off x="8917543" y="278391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Key Parameters</a:t>
            </a:r>
            <a:endParaRPr lang="en-US" sz="2300" dirty="0"/>
          </a:p>
        </p:txBody>
      </p:sp>
      <p:sp>
        <p:nvSpPr>
          <p:cNvPr id="11" name="Text 9"/>
          <p:cNvSpPr/>
          <p:nvPr/>
        </p:nvSpPr>
        <p:spPr>
          <a:xfrm>
            <a:off x="8917543" y="3354348"/>
            <a:ext cx="4926568" cy="317540"/>
          </a:xfrm>
          <a:prstGeom prst="rect">
            <a:avLst/>
          </a:prstGeom>
          <a:noFill/>
          <a:ln/>
        </p:spPr>
        <p:txBody>
          <a:bodyPr wrap="none" lIns="0" tIns="0" rIns="0" bIns="0" rtlCol="0" anchor="t"/>
          <a:lstStyle/>
          <a:p>
            <a:pPr marL="0" indent="0" algn="l">
              <a:lnSpc>
                <a:spcPts val="2500"/>
              </a:lnSpc>
              <a:buNone/>
            </a:pPr>
            <a:r>
              <a:rPr lang="en-US" sz="1550" b="1" dirty="0">
                <a:solidFill>
                  <a:srgbClr val="151617"/>
                </a:solidFill>
                <a:latin typeface="Inconsolata" pitchFamily="34" charset="0"/>
                <a:ea typeface="Inconsolata" pitchFamily="34" charset="-122"/>
                <a:cs typeface="Inconsolata" pitchFamily="34" charset="-120"/>
              </a:rPr>
              <a:t>Training epochs:</a:t>
            </a:r>
            <a:r>
              <a:rPr lang="en-US" sz="1550" dirty="0">
                <a:solidFill>
                  <a:srgbClr val="151617"/>
                </a:solidFill>
                <a:latin typeface="Inconsolata" pitchFamily="34" charset="0"/>
                <a:ea typeface="Inconsolata" pitchFamily="34" charset="-122"/>
                <a:cs typeface="Inconsolata" pitchFamily="34" charset="-120"/>
              </a:rPr>
              <a:t> 5</a:t>
            </a:r>
            <a:endParaRPr lang="en-US" sz="1550" dirty="0"/>
          </a:p>
        </p:txBody>
      </p:sp>
      <p:sp>
        <p:nvSpPr>
          <p:cNvPr id="12" name="Text 10"/>
          <p:cNvSpPr/>
          <p:nvPr/>
        </p:nvSpPr>
        <p:spPr>
          <a:xfrm>
            <a:off x="8917543" y="3850481"/>
            <a:ext cx="4926568" cy="317540"/>
          </a:xfrm>
          <a:prstGeom prst="rect">
            <a:avLst/>
          </a:prstGeom>
          <a:noFill/>
          <a:ln/>
        </p:spPr>
        <p:txBody>
          <a:bodyPr wrap="none" lIns="0" tIns="0" rIns="0" bIns="0" rtlCol="0" anchor="t"/>
          <a:lstStyle/>
          <a:p>
            <a:pPr marL="0" indent="0" algn="l">
              <a:lnSpc>
                <a:spcPts val="2500"/>
              </a:lnSpc>
              <a:buNone/>
            </a:pPr>
            <a:r>
              <a:rPr lang="en-US" sz="1550" b="1" dirty="0">
                <a:solidFill>
                  <a:srgbClr val="151617"/>
                </a:solidFill>
                <a:latin typeface="Inconsolata" pitchFamily="34" charset="0"/>
                <a:ea typeface="Inconsolata" pitchFamily="34" charset="-122"/>
                <a:cs typeface="Inconsolata" pitchFamily="34" charset="-120"/>
              </a:rPr>
              <a:t>Batch size:</a:t>
            </a:r>
            <a:r>
              <a:rPr lang="en-US" sz="1550" dirty="0">
                <a:solidFill>
                  <a:srgbClr val="151617"/>
                </a:solidFill>
                <a:latin typeface="Inconsolata" pitchFamily="34" charset="0"/>
                <a:ea typeface="Inconsolata" pitchFamily="34" charset="-122"/>
                <a:cs typeface="Inconsolata" pitchFamily="34" charset="-120"/>
              </a:rPr>
              <a:t> 64</a:t>
            </a:r>
            <a:endParaRPr lang="en-US" sz="1550" dirty="0"/>
          </a:p>
        </p:txBody>
      </p:sp>
      <p:sp>
        <p:nvSpPr>
          <p:cNvPr id="13" name="Text 11"/>
          <p:cNvSpPr/>
          <p:nvPr/>
        </p:nvSpPr>
        <p:spPr>
          <a:xfrm>
            <a:off x="8917543" y="4346615"/>
            <a:ext cx="4926568" cy="317540"/>
          </a:xfrm>
          <a:prstGeom prst="rect">
            <a:avLst/>
          </a:prstGeom>
          <a:noFill/>
          <a:ln/>
        </p:spPr>
        <p:txBody>
          <a:bodyPr wrap="none" lIns="0" tIns="0" rIns="0" bIns="0" rtlCol="0" anchor="t"/>
          <a:lstStyle/>
          <a:p>
            <a:pPr marL="0" indent="0" algn="l">
              <a:lnSpc>
                <a:spcPts val="2500"/>
              </a:lnSpc>
              <a:buNone/>
            </a:pPr>
            <a:r>
              <a:rPr lang="en-US" sz="1550" b="1" dirty="0">
                <a:solidFill>
                  <a:srgbClr val="151617"/>
                </a:solidFill>
                <a:latin typeface="Inconsolata" pitchFamily="34" charset="0"/>
                <a:ea typeface="Inconsolata" pitchFamily="34" charset="-122"/>
                <a:cs typeface="Inconsolata" pitchFamily="34" charset="-120"/>
              </a:rPr>
              <a:t>Optimizer:</a:t>
            </a:r>
            <a:r>
              <a:rPr lang="en-US" sz="1550" dirty="0">
                <a:solidFill>
                  <a:srgbClr val="151617"/>
                </a:solidFill>
                <a:latin typeface="Inconsolata" pitchFamily="34" charset="0"/>
                <a:ea typeface="Inconsolata" pitchFamily="34" charset="-122"/>
                <a:cs typeface="Inconsolata" pitchFamily="34" charset="-120"/>
              </a:rPr>
              <a:t> Adam</a:t>
            </a:r>
            <a:endParaRPr lang="en-US" sz="1550" dirty="0"/>
          </a:p>
        </p:txBody>
      </p:sp>
      <p:sp>
        <p:nvSpPr>
          <p:cNvPr id="14" name="Text 12"/>
          <p:cNvSpPr/>
          <p:nvPr/>
        </p:nvSpPr>
        <p:spPr>
          <a:xfrm>
            <a:off x="8917543" y="4842748"/>
            <a:ext cx="4926568" cy="317540"/>
          </a:xfrm>
          <a:prstGeom prst="rect">
            <a:avLst/>
          </a:prstGeom>
          <a:noFill/>
          <a:ln/>
        </p:spPr>
        <p:txBody>
          <a:bodyPr wrap="none" lIns="0" tIns="0" rIns="0" bIns="0" rtlCol="0" anchor="t"/>
          <a:lstStyle/>
          <a:p>
            <a:pPr marL="0" indent="0" algn="l">
              <a:lnSpc>
                <a:spcPts val="2500"/>
              </a:lnSpc>
              <a:buNone/>
            </a:pPr>
            <a:r>
              <a:rPr lang="en-US" sz="1550" b="1" dirty="0">
                <a:solidFill>
                  <a:srgbClr val="151617"/>
                </a:solidFill>
                <a:latin typeface="Inconsolata" pitchFamily="34" charset="0"/>
                <a:ea typeface="Inconsolata" pitchFamily="34" charset="-122"/>
                <a:cs typeface="Inconsolata" pitchFamily="34" charset="-120"/>
              </a:rPr>
              <a:t>Loss function:</a:t>
            </a:r>
            <a:r>
              <a:rPr lang="en-US" sz="1550" dirty="0">
                <a:solidFill>
                  <a:srgbClr val="151617"/>
                </a:solidFill>
                <a:latin typeface="Inconsolata" pitchFamily="34" charset="0"/>
                <a:ea typeface="Inconsolata" pitchFamily="34" charset="-122"/>
                <a:cs typeface="Inconsolata" pitchFamily="34" charset="-120"/>
              </a:rPr>
              <a:t> CrossEntropyLoss</a:t>
            </a:r>
            <a:endParaRPr lang="en-US" sz="1550" dirty="0"/>
          </a:p>
        </p:txBody>
      </p:sp>
      <p:sp>
        <p:nvSpPr>
          <p:cNvPr id="15" name="Text 13"/>
          <p:cNvSpPr/>
          <p:nvPr/>
        </p:nvSpPr>
        <p:spPr>
          <a:xfrm>
            <a:off x="8917543" y="5338882"/>
            <a:ext cx="4926568" cy="317540"/>
          </a:xfrm>
          <a:prstGeom prst="rect">
            <a:avLst/>
          </a:prstGeom>
          <a:noFill/>
          <a:ln/>
        </p:spPr>
        <p:txBody>
          <a:bodyPr wrap="none" lIns="0" tIns="0" rIns="0" bIns="0" rtlCol="0" anchor="t"/>
          <a:lstStyle/>
          <a:p>
            <a:pPr marL="0" indent="0" algn="l">
              <a:lnSpc>
                <a:spcPts val="2500"/>
              </a:lnSpc>
              <a:buNone/>
            </a:pPr>
            <a:r>
              <a:rPr lang="en-US" sz="1550" b="1" dirty="0">
                <a:solidFill>
                  <a:srgbClr val="151617"/>
                </a:solidFill>
                <a:latin typeface="Inconsolata" pitchFamily="34" charset="0"/>
                <a:ea typeface="Inconsolata" pitchFamily="34" charset="-122"/>
                <a:cs typeface="Inconsolata" pitchFamily="34" charset="-120"/>
              </a:rPr>
              <a:t>Regularization:</a:t>
            </a:r>
            <a:r>
              <a:rPr lang="en-US" sz="1550" dirty="0">
                <a:solidFill>
                  <a:srgbClr val="151617"/>
                </a:solidFill>
                <a:latin typeface="Inconsolata" pitchFamily="34" charset="0"/>
                <a:ea typeface="Inconsolata" pitchFamily="34" charset="-122"/>
                <a:cs typeface="Inconsolata" pitchFamily="34" charset="-120"/>
              </a:rPr>
              <a:t> Dropout layers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84252"/>
            <a:ext cx="6593205"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Implementation Process</a:t>
            </a:r>
            <a:endParaRPr lang="en-US" sz="3900" dirty="0"/>
          </a:p>
        </p:txBody>
      </p:sp>
      <p:pic>
        <p:nvPicPr>
          <p:cNvPr id="3" name="Image 0" descr="preencoded.png"/>
          <p:cNvPicPr>
            <a:picLocks noChangeAspect="1"/>
          </p:cNvPicPr>
          <p:nvPr/>
        </p:nvPicPr>
        <p:blipFill>
          <a:blip r:embed="rId3"/>
          <a:stretch>
            <a:fillRect/>
          </a:stretch>
        </p:blipFill>
        <p:spPr>
          <a:xfrm>
            <a:off x="793790" y="1701165"/>
            <a:ext cx="992267" cy="1461016"/>
          </a:xfrm>
          <a:prstGeom prst="rect">
            <a:avLst/>
          </a:prstGeom>
        </p:spPr>
      </p:pic>
      <p:sp>
        <p:nvSpPr>
          <p:cNvPr id="4" name="Text 1"/>
          <p:cNvSpPr/>
          <p:nvPr/>
        </p:nvSpPr>
        <p:spPr>
          <a:xfrm>
            <a:off x="1984415" y="1899523"/>
            <a:ext cx="4628793"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Dataset Loading &amp; Transformation</a:t>
            </a:r>
            <a:endParaRPr lang="en-US" sz="1950" dirty="0"/>
          </a:p>
        </p:txBody>
      </p:sp>
      <p:sp>
        <p:nvSpPr>
          <p:cNvPr id="5" name="Text 2"/>
          <p:cNvSpPr/>
          <p:nvPr/>
        </p:nvSpPr>
        <p:spPr>
          <a:xfrm>
            <a:off x="1984415" y="2328743"/>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Fashion MNIST accessed using torchvision.datasets with transformation pipeline for tensor conversion and normalization. Training set split into 80/20 ratio for training and validation.</a:t>
            </a:r>
            <a:endParaRPr lang="en-US" sz="1550" dirty="0"/>
          </a:p>
        </p:txBody>
      </p:sp>
      <p:pic>
        <p:nvPicPr>
          <p:cNvPr id="6" name="Image 1" descr="preencoded.png"/>
          <p:cNvPicPr>
            <a:picLocks noChangeAspect="1"/>
          </p:cNvPicPr>
          <p:nvPr/>
        </p:nvPicPr>
        <p:blipFill>
          <a:blip r:embed="rId4"/>
          <a:stretch>
            <a:fillRect/>
          </a:stretch>
        </p:blipFill>
        <p:spPr>
          <a:xfrm>
            <a:off x="793790" y="3162181"/>
            <a:ext cx="992267" cy="1461016"/>
          </a:xfrm>
          <a:prstGeom prst="rect">
            <a:avLst/>
          </a:prstGeom>
        </p:spPr>
      </p:pic>
      <p:sp>
        <p:nvSpPr>
          <p:cNvPr id="7" name="Text 3"/>
          <p:cNvSpPr/>
          <p:nvPr/>
        </p:nvSpPr>
        <p:spPr>
          <a:xfrm>
            <a:off x="1984415" y="3360539"/>
            <a:ext cx="4494133"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Model Architecture Development</a:t>
            </a:r>
            <a:endParaRPr lang="en-US" sz="1950" dirty="0"/>
          </a:p>
        </p:txBody>
      </p:sp>
      <p:sp>
        <p:nvSpPr>
          <p:cNvPr id="8" name="Text 4"/>
          <p:cNvSpPr/>
          <p:nvPr/>
        </p:nvSpPr>
        <p:spPr>
          <a:xfrm>
            <a:off x="1984415" y="3789759"/>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ANN: Feedforward network with three linear layers, ReLU activation, and dropout. CNN: Two convolutional layers with maxpooling, ReLU, and dropout before fully connected layers.</a:t>
            </a:r>
            <a:endParaRPr lang="en-US" sz="1550" dirty="0"/>
          </a:p>
        </p:txBody>
      </p:sp>
      <p:pic>
        <p:nvPicPr>
          <p:cNvPr id="9" name="Image 2" descr="preencoded.png"/>
          <p:cNvPicPr>
            <a:picLocks noChangeAspect="1"/>
          </p:cNvPicPr>
          <p:nvPr/>
        </p:nvPicPr>
        <p:blipFill>
          <a:blip r:embed="rId5"/>
          <a:stretch>
            <a:fillRect/>
          </a:stretch>
        </p:blipFill>
        <p:spPr>
          <a:xfrm>
            <a:off x="793790" y="4623197"/>
            <a:ext cx="992267" cy="1461016"/>
          </a:xfrm>
          <a:prstGeom prst="rect">
            <a:avLst/>
          </a:prstGeom>
        </p:spPr>
      </p:pic>
      <p:sp>
        <p:nvSpPr>
          <p:cNvPr id="10" name="Text 5"/>
          <p:cNvSpPr/>
          <p:nvPr/>
        </p:nvSpPr>
        <p:spPr>
          <a:xfrm>
            <a:off x="1984415" y="4821555"/>
            <a:ext cx="3272195"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Training Loop Execution</a:t>
            </a:r>
            <a:endParaRPr lang="en-US" sz="1950" dirty="0"/>
          </a:p>
        </p:txBody>
      </p:sp>
      <p:sp>
        <p:nvSpPr>
          <p:cNvPr id="11" name="Text 6"/>
          <p:cNvSpPr/>
          <p:nvPr/>
        </p:nvSpPr>
        <p:spPr>
          <a:xfrm>
            <a:off x="1984415" y="5250775"/>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Custom train_model function handled forward pass, loss computation, backpropagation, and optimizer updates. Validation accuracy monitored throughout to detect overfitting.</a:t>
            </a:r>
            <a:endParaRPr lang="en-US" sz="1550" dirty="0"/>
          </a:p>
        </p:txBody>
      </p:sp>
      <p:pic>
        <p:nvPicPr>
          <p:cNvPr id="12" name="Image 3" descr="preencoded.png"/>
          <p:cNvPicPr>
            <a:picLocks noChangeAspect="1"/>
          </p:cNvPicPr>
          <p:nvPr/>
        </p:nvPicPr>
        <p:blipFill>
          <a:blip r:embed="rId6"/>
          <a:stretch>
            <a:fillRect/>
          </a:stretch>
        </p:blipFill>
        <p:spPr>
          <a:xfrm>
            <a:off x="793790" y="6084213"/>
            <a:ext cx="992267" cy="1461016"/>
          </a:xfrm>
          <a:prstGeom prst="rect">
            <a:avLst/>
          </a:prstGeom>
        </p:spPr>
      </p:pic>
      <p:sp>
        <p:nvSpPr>
          <p:cNvPr id="13" name="Text 7"/>
          <p:cNvSpPr/>
          <p:nvPr/>
        </p:nvSpPr>
        <p:spPr>
          <a:xfrm>
            <a:off x="1984415" y="628257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Model Evaluation</a:t>
            </a:r>
            <a:endParaRPr lang="en-US" sz="1950" dirty="0"/>
          </a:p>
        </p:txBody>
      </p:sp>
      <p:sp>
        <p:nvSpPr>
          <p:cNvPr id="14" name="Text 8"/>
          <p:cNvSpPr/>
          <p:nvPr/>
        </p:nvSpPr>
        <p:spPr>
          <a:xfrm>
            <a:off x="1984415" y="6711791"/>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Evaluate function calculated classification accuracy on test set and generated confusion matrices for detailed performance analysis.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302669"/>
            <a:ext cx="5006102"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Results &amp; Findings</a:t>
            </a:r>
            <a:endParaRPr lang="en-US" sz="3900" dirty="0"/>
          </a:p>
        </p:txBody>
      </p:sp>
      <p:sp>
        <p:nvSpPr>
          <p:cNvPr id="3" name="Text 1"/>
          <p:cNvSpPr/>
          <p:nvPr/>
        </p:nvSpPr>
        <p:spPr>
          <a:xfrm>
            <a:off x="793790" y="331958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The CNN model demonstrated superior performance across all configurations, significantly outperforming the ANN architecture in fashion item classification accuracy.</a:t>
            </a:r>
            <a:endParaRPr lang="en-US" sz="1550" dirty="0"/>
          </a:p>
        </p:txBody>
      </p:sp>
      <p:sp>
        <p:nvSpPr>
          <p:cNvPr id="4" name="Text 2"/>
          <p:cNvSpPr/>
          <p:nvPr/>
        </p:nvSpPr>
        <p:spPr>
          <a:xfrm>
            <a:off x="793790" y="4277082"/>
            <a:ext cx="3074670" cy="654963"/>
          </a:xfrm>
          <a:prstGeom prst="rect">
            <a:avLst/>
          </a:prstGeom>
          <a:noFill/>
          <a:ln/>
        </p:spPr>
        <p:txBody>
          <a:bodyPr wrap="none" lIns="0" tIns="0" rIns="0" bIns="0" rtlCol="0" anchor="t"/>
          <a:lstStyle/>
          <a:p>
            <a:pPr marL="0" indent="0" algn="ctr">
              <a:lnSpc>
                <a:spcPts val="5150"/>
              </a:lnSpc>
              <a:buNone/>
            </a:pPr>
            <a:r>
              <a:rPr lang="en-US" sz="5150" b="1" dirty="0">
                <a:solidFill>
                  <a:srgbClr val="151617"/>
                </a:solidFill>
                <a:latin typeface="Montserrat Black" pitchFamily="34" charset="0"/>
                <a:ea typeface="Montserrat Black" pitchFamily="34" charset="-122"/>
                <a:cs typeface="Montserrat Black" pitchFamily="34" charset="-120"/>
              </a:rPr>
              <a:t>86.29%</a:t>
            </a:r>
            <a:endParaRPr lang="en-US" sz="5150" dirty="0"/>
          </a:p>
        </p:txBody>
      </p:sp>
      <p:sp>
        <p:nvSpPr>
          <p:cNvPr id="5" name="Text 3"/>
          <p:cNvSpPr/>
          <p:nvPr/>
        </p:nvSpPr>
        <p:spPr>
          <a:xfrm>
            <a:off x="1090613" y="518005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ANN Baseline</a:t>
            </a:r>
            <a:endParaRPr lang="en-US" sz="1950" dirty="0"/>
          </a:p>
        </p:txBody>
      </p:sp>
      <p:sp>
        <p:nvSpPr>
          <p:cNvPr id="6" name="Text 4"/>
          <p:cNvSpPr/>
          <p:nvPr/>
        </p:nvSpPr>
        <p:spPr>
          <a:xfrm>
            <a:off x="793790" y="5609273"/>
            <a:ext cx="3074670" cy="317540"/>
          </a:xfrm>
          <a:prstGeom prst="rect">
            <a:avLst/>
          </a:prstGeom>
          <a:noFill/>
          <a:ln/>
        </p:spPr>
        <p:txBody>
          <a:bodyPr wrap="none" lIns="0" tIns="0" rIns="0" bIns="0" rtlCol="0" anchor="t"/>
          <a:lstStyle/>
          <a:p>
            <a:pPr marL="0" indent="0" algn="ctr">
              <a:lnSpc>
                <a:spcPts val="2500"/>
              </a:lnSpc>
              <a:buNone/>
            </a:pPr>
            <a:r>
              <a:rPr lang="en-US" sz="1550" dirty="0">
                <a:solidFill>
                  <a:srgbClr val="151617"/>
                </a:solidFill>
                <a:latin typeface="Inconsolata" pitchFamily="34" charset="0"/>
                <a:ea typeface="Inconsolata" pitchFamily="34" charset="-122"/>
                <a:cs typeface="Inconsolata" pitchFamily="34" charset="-120"/>
              </a:rPr>
              <a:t>Without dropout or augmentation</a:t>
            </a:r>
            <a:endParaRPr lang="en-US" sz="1550" dirty="0"/>
          </a:p>
        </p:txBody>
      </p:sp>
      <p:sp>
        <p:nvSpPr>
          <p:cNvPr id="7" name="Text 5"/>
          <p:cNvSpPr/>
          <p:nvPr/>
        </p:nvSpPr>
        <p:spPr>
          <a:xfrm>
            <a:off x="4116467" y="4277082"/>
            <a:ext cx="3074670" cy="654963"/>
          </a:xfrm>
          <a:prstGeom prst="rect">
            <a:avLst/>
          </a:prstGeom>
          <a:noFill/>
          <a:ln/>
        </p:spPr>
        <p:txBody>
          <a:bodyPr wrap="none" lIns="0" tIns="0" rIns="0" bIns="0" rtlCol="0" anchor="t"/>
          <a:lstStyle/>
          <a:p>
            <a:pPr marL="0" indent="0" algn="ctr">
              <a:lnSpc>
                <a:spcPts val="5150"/>
              </a:lnSpc>
              <a:buNone/>
            </a:pPr>
            <a:r>
              <a:rPr lang="en-US" sz="5150" b="1" dirty="0">
                <a:solidFill>
                  <a:srgbClr val="151617"/>
                </a:solidFill>
                <a:latin typeface="Montserrat Black" pitchFamily="34" charset="0"/>
                <a:ea typeface="Montserrat Black" pitchFamily="34" charset="-122"/>
                <a:cs typeface="Montserrat Black" pitchFamily="34" charset="-120"/>
              </a:rPr>
              <a:t>91.31%</a:t>
            </a:r>
            <a:endParaRPr lang="en-US" sz="5150" dirty="0"/>
          </a:p>
        </p:txBody>
      </p:sp>
      <p:sp>
        <p:nvSpPr>
          <p:cNvPr id="8" name="Text 6"/>
          <p:cNvSpPr/>
          <p:nvPr/>
        </p:nvSpPr>
        <p:spPr>
          <a:xfrm>
            <a:off x="4413290" y="518005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CNN Baseline</a:t>
            </a:r>
            <a:endParaRPr lang="en-US" sz="1950" dirty="0"/>
          </a:p>
        </p:txBody>
      </p:sp>
      <p:sp>
        <p:nvSpPr>
          <p:cNvPr id="9" name="Text 7"/>
          <p:cNvSpPr/>
          <p:nvPr/>
        </p:nvSpPr>
        <p:spPr>
          <a:xfrm>
            <a:off x="4116467" y="5609273"/>
            <a:ext cx="3074670" cy="317540"/>
          </a:xfrm>
          <a:prstGeom prst="rect">
            <a:avLst/>
          </a:prstGeom>
          <a:noFill/>
          <a:ln/>
        </p:spPr>
        <p:txBody>
          <a:bodyPr wrap="none" lIns="0" tIns="0" rIns="0" bIns="0" rtlCol="0" anchor="t"/>
          <a:lstStyle/>
          <a:p>
            <a:pPr marL="0" indent="0" algn="ctr">
              <a:lnSpc>
                <a:spcPts val="2500"/>
              </a:lnSpc>
              <a:buNone/>
            </a:pPr>
            <a:r>
              <a:rPr lang="en-US" sz="1550" dirty="0">
                <a:solidFill>
                  <a:srgbClr val="151617"/>
                </a:solidFill>
                <a:latin typeface="Inconsolata" pitchFamily="34" charset="0"/>
                <a:ea typeface="Inconsolata" pitchFamily="34" charset="-122"/>
                <a:cs typeface="Inconsolata" pitchFamily="34" charset="-120"/>
              </a:rPr>
              <a:t>Without additional processing</a:t>
            </a:r>
            <a:endParaRPr lang="en-US" sz="1550" dirty="0"/>
          </a:p>
        </p:txBody>
      </p:sp>
      <p:sp>
        <p:nvSpPr>
          <p:cNvPr id="10" name="Text 8"/>
          <p:cNvSpPr/>
          <p:nvPr/>
        </p:nvSpPr>
        <p:spPr>
          <a:xfrm>
            <a:off x="7439144" y="4277082"/>
            <a:ext cx="3074670" cy="654963"/>
          </a:xfrm>
          <a:prstGeom prst="rect">
            <a:avLst/>
          </a:prstGeom>
          <a:noFill/>
          <a:ln/>
        </p:spPr>
        <p:txBody>
          <a:bodyPr wrap="none" lIns="0" tIns="0" rIns="0" bIns="0" rtlCol="0" anchor="t"/>
          <a:lstStyle/>
          <a:p>
            <a:pPr marL="0" indent="0" algn="ctr">
              <a:lnSpc>
                <a:spcPts val="5150"/>
              </a:lnSpc>
              <a:buNone/>
            </a:pPr>
            <a:r>
              <a:rPr lang="en-US" sz="5150" b="1" dirty="0">
                <a:solidFill>
                  <a:srgbClr val="151617"/>
                </a:solidFill>
                <a:latin typeface="Montserrat Black" pitchFamily="34" charset="0"/>
                <a:ea typeface="Montserrat Black" pitchFamily="34" charset="-122"/>
                <a:cs typeface="Montserrat Black" pitchFamily="34" charset="-120"/>
              </a:rPr>
              <a:t>87.45%</a:t>
            </a:r>
            <a:endParaRPr lang="en-US" sz="5150" dirty="0"/>
          </a:p>
        </p:txBody>
      </p:sp>
      <p:sp>
        <p:nvSpPr>
          <p:cNvPr id="11" name="Text 9"/>
          <p:cNvSpPr/>
          <p:nvPr/>
        </p:nvSpPr>
        <p:spPr>
          <a:xfrm>
            <a:off x="7735967" y="518005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ANN Enhanced</a:t>
            </a:r>
            <a:endParaRPr lang="en-US" sz="1950" dirty="0"/>
          </a:p>
        </p:txBody>
      </p:sp>
      <p:sp>
        <p:nvSpPr>
          <p:cNvPr id="12" name="Text 10"/>
          <p:cNvSpPr/>
          <p:nvPr/>
        </p:nvSpPr>
        <p:spPr>
          <a:xfrm>
            <a:off x="7439144" y="5609273"/>
            <a:ext cx="3074670" cy="317540"/>
          </a:xfrm>
          <a:prstGeom prst="rect">
            <a:avLst/>
          </a:prstGeom>
          <a:noFill/>
          <a:ln/>
        </p:spPr>
        <p:txBody>
          <a:bodyPr wrap="none" lIns="0" tIns="0" rIns="0" bIns="0" rtlCol="0" anchor="t"/>
          <a:lstStyle/>
          <a:p>
            <a:pPr marL="0" indent="0" algn="ctr">
              <a:lnSpc>
                <a:spcPts val="2500"/>
              </a:lnSpc>
              <a:buNone/>
            </a:pPr>
            <a:r>
              <a:rPr lang="en-US" sz="1550" dirty="0">
                <a:solidFill>
                  <a:srgbClr val="151617"/>
                </a:solidFill>
                <a:latin typeface="Inconsolata" pitchFamily="34" charset="0"/>
                <a:ea typeface="Inconsolata" pitchFamily="34" charset="-122"/>
                <a:cs typeface="Inconsolata" pitchFamily="34" charset="-120"/>
              </a:rPr>
              <a:t>With dropout and augmentation</a:t>
            </a:r>
            <a:endParaRPr lang="en-US" sz="1550" dirty="0"/>
          </a:p>
        </p:txBody>
      </p:sp>
      <p:sp>
        <p:nvSpPr>
          <p:cNvPr id="13" name="Text 11"/>
          <p:cNvSpPr/>
          <p:nvPr/>
        </p:nvSpPr>
        <p:spPr>
          <a:xfrm>
            <a:off x="10761821" y="4277082"/>
            <a:ext cx="3074789" cy="654963"/>
          </a:xfrm>
          <a:prstGeom prst="rect">
            <a:avLst/>
          </a:prstGeom>
          <a:noFill/>
          <a:ln/>
        </p:spPr>
        <p:txBody>
          <a:bodyPr wrap="none" lIns="0" tIns="0" rIns="0" bIns="0" rtlCol="0" anchor="t"/>
          <a:lstStyle/>
          <a:p>
            <a:pPr marL="0" indent="0" algn="ctr">
              <a:lnSpc>
                <a:spcPts val="5150"/>
              </a:lnSpc>
              <a:buNone/>
            </a:pPr>
            <a:r>
              <a:rPr lang="en-US" sz="5150" b="1" dirty="0">
                <a:solidFill>
                  <a:srgbClr val="151617"/>
                </a:solidFill>
                <a:latin typeface="Montserrat Black" pitchFamily="34" charset="0"/>
                <a:ea typeface="Montserrat Black" pitchFamily="34" charset="-122"/>
                <a:cs typeface="Montserrat Black" pitchFamily="34" charset="-120"/>
              </a:rPr>
              <a:t>92.24%</a:t>
            </a:r>
            <a:endParaRPr lang="en-US" sz="5150" dirty="0"/>
          </a:p>
        </p:txBody>
      </p:sp>
      <p:sp>
        <p:nvSpPr>
          <p:cNvPr id="14" name="Text 12"/>
          <p:cNvSpPr/>
          <p:nvPr/>
        </p:nvSpPr>
        <p:spPr>
          <a:xfrm>
            <a:off x="11058763" y="518005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CNN Enhanced</a:t>
            </a:r>
            <a:endParaRPr lang="en-US" sz="1950" dirty="0"/>
          </a:p>
        </p:txBody>
      </p:sp>
      <p:sp>
        <p:nvSpPr>
          <p:cNvPr id="15" name="Text 13"/>
          <p:cNvSpPr/>
          <p:nvPr/>
        </p:nvSpPr>
        <p:spPr>
          <a:xfrm>
            <a:off x="10761821" y="5609273"/>
            <a:ext cx="3074789" cy="317540"/>
          </a:xfrm>
          <a:prstGeom prst="rect">
            <a:avLst/>
          </a:prstGeom>
          <a:noFill/>
          <a:ln/>
        </p:spPr>
        <p:txBody>
          <a:bodyPr wrap="none" lIns="0" tIns="0" rIns="0" bIns="0" rtlCol="0" anchor="t"/>
          <a:lstStyle/>
          <a:p>
            <a:pPr marL="0" indent="0" algn="ctr">
              <a:lnSpc>
                <a:spcPts val="2500"/>
              </a:lnSpc>
              <a:buNone/>
            </a:pPr>
            <a:r>
              <a:rPr lang="en-US" sz="1550" dirty="0">
                <a:solidFill>
                  <a:srgbClr val="151617"/>
                </a:solidFill>
                <a:latin typeface="Inconsolata" pitchFamily="34" charset="0"/>
                <a:ea typeface="Inconsolata" pitchFamily="34" charset="-122"/>
                <a:cs typeface="Inconsolata" pitchFamily="34" charset="-120"/>
              </a:rPr>
              <a:t>With dropout and augmentation</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733431"/>
            <a:ext cx="7393900"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Discussion &amp; Interpretation</a:t>
            </a:r>
            <a:endParaRPr lang="en-US" sz="3900" dirty="0"/>
          </a:p>
        </p:txBody>
      </p:sp>
      <p:sp>
        <p:nvSpPr>
          <p:cNvPr id="3" name="Text 1"/>
          <p:cNvSpPr/>
          <p:nvPr/>
        </p:nvSpPr>
        <p:spPr>
          <a:xfrm>
            <a:off x="793790" y="284952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Key Insights</a:t>
            </a:r>
            <a:endParaRPr lang="en-US" sz="2300" dirty="0"/>
          </a:p>
        </p:txBody>
      </p:sp>
      <p:sp>
        <p:nvSpPr>
          <p:cNvPr id="4" name="Text 2"/>
          <p:cNvSpPr/>
          <p:nvPr/>
        </p:nvSpPr>
        <p:spPr>
          <a:xfrm>
            <a:off x="793790" y="3419951"/>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CNNs excel at image classification due to their ability to learn spatial features through convolutional and pooling layers. The hierarchical feature learning enables CNNs to capture complex patterns that simple feedforward networks miss.</a:t>
            </a:r>
            <a:endParaRPr lang="en-US" sz="1550" dirty="0"/>
          </a:p>
        </p:txBody>
      </p:sp>
      <p:sp>
        <p:nvSpPr>
          <p:cNvPr id="5" name="Text 3"/>
          <p:cNvSpPr/>
          <p:nvPr/>
        </p:nvSpPr>
        <p:spPr>
          <a:xfrm>
            <a:off x="793790" y="4868704"/>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Dropout and data augmentation proved beneficial for both architectures, reducing overfitting and improving generalization to unseen data. However, the CNN's architectural advantages remained dominant.</a:t>
            </a:r>
            <a:endParaRPr lang="en-US" sz="1550" dirty="0"/>
          </a:p>
        </p:txBody>
      </p:sp>
      <p:sp>
        <p:nvSpPr>
          <p:cNvPr id="6" name="Text 4"/>
          <p:cNvSpPr/>
          <p:nvPr/>
        </p:nvSpPr>
        <p:spPr>
          <a:xfrm>
            <a:off x="7564874" y="2849523"/>
            <a:ext cx="3716536" cy="372070"/>
          </a:xfrm>
          <a:prstGeom prst="rect">
            <a:avLst/>
          </a:prstGeom>
          <a:noFill/>
          <a:ln/>
        </p:spPr>
        <p:txBody>
          <a:bodyPr wrap="none" lIns="0" tIns="0" rIns="0" bIns="0" rtlCol="0" anchor="t"/>
          <a:lstStyle/>
          <a:p>
            <a:pPr marL="0" indent="0" algn="l">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Challenges &amp; Solutions</a:t>
            </a:r>
            <a:endParaRPr lang="en-US" sz="2300" dirty="0"/>
          </a:p>
        </p:txBody>
      </p:sp>
      <p:sp>
        <p:nvSpPr>
          <p:cNvPr id="7" name="Text 5"/>
          <p:cNvSpPr/>
          <p:nvPr/>
        </p:nvSpPr>
        <p:spPr>
          <a:xfrm>
            <a:off x="7564874" y="3419951"/>
            <a:ext cx="6279356" cy="952619"/>
          </a:xfrm>
          <a:prstGeom prst="rect">
            <a:avLst/>
          </a:prstGeom>
          <a:noFill/>
          <a:ln/>
        </p:spPr>
        <p:txBody>
          <a:bodyPr wrap="square" lIns="0" tIns="0" rIns="0" bIns="0" rtlCol="0" anchor="t"/>
          <a:lstStyle/>
          <a:p>
            <a:pPr marL="0" indent="0" algn="l">
              <a:lnSpc>
                <a:spcPts val="2500"/>
              </a:lnSpc>
              <a:buNone/>
            </a:pPr>
            <a:r>
              <a:rPr lang="en-US" sz="1550" b="1" dirty="0">
                <a:solidFill>
                  <a:srgbClr val="151617"/>
                </a:solidFill>
                <a:latin typeface="Inconsolata" pitchFamily="34" charset="0"/>
                <a:ea typeface="Inconsolata" pitchFamily="34" charset="-122"/>
                <a:cs typeface="Inconsolata" pitchFamily="34" charset="-120"/>
              </a:rPr>
              <a:t>Visual Similarity:</a:t>
            </a:r>
            <a:r>
              <a:rPr lang="en-US" sz="1550" dirty="0">
                <a:solidFill>
                  <a:srgbClr val="151617"/>
                </a:solidFill>
                <a:latin typeface="Inconsolata" pitchFamily="34" charset="0"/>
                <a:ea typeface="Inconsolata" pitchFamily="34" charset="-122"/>
                <a:cs typeface="Inconsolata" pitchFamily="34" charset="-120"/>
              </a:rPr>
              <a:t> Classes like shirts, pullovers, and coats posed classification challenges. CNNs handled these better through spatial feature extraction.</a:t>
            </a:r>
            <a:endParaRPr lang="en-US" sz="1550" dirty="0"/>
          </a:p>
        </p:txBody>
      </p:sp>
      <p:sp>
        <p:nvSpPr>
          <p:cNvPr id="8" name="Text 6"/>
          <p:cNvSpPr/>
          <p:nvPr/>
        </p:nvSpPr>
        <p:spPr>
          <a:xfrm>
            <a:off x="7564874" y="4551164"/>
            <a:ext cx="6279356" cy="635079"/>
          </a:xfrm>
          <a:prstGeom prst="rect">
            <a:avLst/>
          </a:prstGeom>
          <a:noFill/>
          <a:ln/>
        </p:spPr>
        <p:txBody>
          <a:bodyPr wrap="square" lIns="0" tIns="0" rIns="0" bIns="0" rtlCol="0" anchor="t"/>
          <a:lstStyle/>
          <a:p>
            <a:pPr marL="0" indent="0" algn="l">
              <a:lnSpc>
                <a:spcPts val="2500"/>
              </a:lnSpc>
              <a:buNone/>
            </a:pPr>
            <a:r>
              <a:rPr lang="en-US" sz="1550" b="1" dirty="0">
                <a:solidFill>
                  <a:srgbClr val="151617"/>
                </a:solidFill>
                <a:latin typeface="Inconsolata" pitchFamily="34" charset="0"/>
                <a:ea typeface="Inconsolata" pitchFamily="34" charset="-122"/>
                <a:cs typeface="Inconsolata" pitchFamily="34" charset="-120"/>
              </a:rPr>
              <a:t>Overfitting Risk:</a:t>
            </a:r>
            <a:r>
              <a:rPr lang="en-US" sz="1550" dirty="0">
                <a:solidFill>
                  <a:srgbClr val="151617"/>
                </a:solidFill>
                <a:latin typeface="Inconsolata" pitchFamily="34" charset="0"/>
                <a:ea typeface="Inconsolata" pitchFamily="34" charset="-122"/>
                <a:cs typeface="Inconsolata" pitchFamily="34" charset="-120"/>
              </a:rPr>
              <a:t> Addressed through dropout layers and data augmentation techniques including random flipping and rotation.</a:t>
            </a:r>
            <a:endParaRPr lang="en-US" sz="1550" dirty="0"/>
          </a:p>
        </p:txBody>
      </p:sp>
      <p:sp>
        <p:nvSpPr>
          <p:cNvPr id="9" name="Text 7"/>
          <p:cNvSpPr/>
          <p:nvPr/>
        </p:nvSpPr>
        <p:spPr>
          <a:xfrm>
            <a:off x="7564874" y="5364837"/>
            <a:ext cx="6279356" cy="952619"/>
          </a:xfrm>
          <a:prstGeom prst="rect">
            <a:avLst/>
          </a:prstGeom>
          <a:noFill/>
          <a:ln/>
        </p:spPr>
        <p:txBody>
          <a:bodyPr wrap="square" lIns="0" tIns="0" rIns="0" bIns="0" rtlCol="0" anchor="t"/>
          <a:lstStyle/>
          <a:p>
            <a:pPr marL="0" indent="0" algn="l">
              <a:lnSpc>
                <a:spcPts val="2500"/>
              </a:lnSpc>
              <a:buNone/>
            </a:pPr>
            <a:r>
              <a:rPr lang="en-US" sz="1550" b="1" dirty="0">
                <a:solidFill>
                  <a:srgbClr val="151617"/>
                </a:solidFill>
                <a:latin typeface="Inconsolata" pitchFamily="34" charset="0"/>
                <a:ea typeface="Inconsolata" pitchFamily="34" charset="-122"/>
                <a:cs typeface="Inconsolata" pitchFamily="34" charset="-120"/>
              </a:rPr>
              <a:t>Model Generalization:</a:t>
            </a:r>
            <a:r>
              <a:rPr lang="en-US" sz="1550" dirty="0">
                <a:solidFill>
                  <a:srgbClr val="151617"/>
                </a:solidFill>
                <a:latin typeface="Inconsolata" pitchFamily="34" charset="0"/>
                <a:ea typeface="Inconsolata" pitchFamily="34" charset="-122"/>
                <a:cs typeface="Inconsolata" pitchFamily="34" charset="-120"/>
              </a:rPr>
              <a:t> Confusion matrices revealed CNNs had fewer misclassifications, especially among similar fashion categories.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788676"/>
            <a:ext cx="6237923"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Conclusion &amp; Summary</a:t>
            </a:r>
            <a:endParaRPr lang="en-US" sz="3900" dirty="0"/>
          </a:p>
        </p:txBody>
      </p:sp>
      <p:sp>
        <p:nvSpPr>
          <p:cNvPr id="3" name="Shape 1"/>
          <p:cNvSpPr/>
          <p:nvPr/>
        </p:nvSpPr>
        <p:spPr>
          <a:xfrm>
            <a:off x="793790" y="2805589"/>
            <a:ext cx="4215289" cy="2776895"/>
          </a:xfrm>
          <a:prstGeom prst="roundRect">
            <a:avLst>
              <a:gd name="adj" fmla="val 3951"/>
            </a:avLst>
          </a:prstGeom>
          <a:solidFill>
            <a:srgbClr val="F8ECE4"/>
          </a:solidFill>
          <a:ln w="22860">
            <a:solidFill>
              <a:srgbClr val="151617"/>
            </a:solidFill>
            <a:prstDash val="solid"/>
          </a:ln>
          <a:effectLst>
            <a:outerShdw dist="17780" dir="2700000" algn="bl" rotWithShape="0">
              <a:srgbClr val="151617">
                <a:alpha val="100000"/>
              </a:srgbClr>
            </a:outerShdw>
          </a:effectLst>
        </p:spPr>
        <p:txBody>
          <a:bodyPr/>
          <a:lstStyle/>
          <a:p>
            <a:endParaRPr lang="en-IN"/>
          </a:p>
        </p:txBody>
      </p:sp>
      <p:sp>
        <p:nvSpPr>
          <p:cNvPr id="4" name="Shape 2"/>
          <p:cNvSpPr/>
          <p:nvPr/>
        </p:nvSpPr>
        <p:spPr>
          <a:xfrm>
            <a:off x="770930" y="2805589"/>
            <a:ext cx="91440" cy="2776895"/>
          </a:xfrm>
          <a:prstGeom prst="roundRect">
            <a:avLst>
              <a:gd name="adj" fmla="val 10000"/>
            </a:avLst>
          </a:prstGeom>
          <a:solidFill>
            <a:srgbClr val="151617"/>
          </a:solidFill>
          <a:ln/>
        </p:spPr>
        <p:txBody>
          <a:bodyPr/>
          <a:lstStyle/>
          <a:p>
            <a:endParaRPr lang="en-IN"/>
          </a:p>
        </p:txBody>
      </p:sp>
      <p:sp>
        <p:nvSpPr>
          <p:cNvPr id="5" name="Text 3"/>
          <p:cNvSpPr/>
          <p:nvPr/>
        </p:nvSpPr>
        <p:spPr>
          <a:xfrm>
            <a:off x="1083588" y="3026807"/>
            <a:ext cx="3652480"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CNN Superiority Confirmed</a:t>
            </a:r>
            <a:endParaRPr lang="en-US" sz="1950" dirty="0"/>
          </a:p>
        </p:txBody>
      </p:sp>
      <p:sp>
        <p:nvSpPr>
          <p:cNvPr id="6" name="Text 4"/>
          <p:cNvSpPr/>
          <p:nvPr/>
        </p:nvSpPr>
        <p:spPr>
          <a:xfrm>
            <a:off x="1083588" y="3456027"/>
            <a:ext cx="3704273" cy="1905238"/>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Convolutional Neural Networks demonstrated clear superiority over ANNs for image classification, achieving 92.24% accuracy with regularization techniques compared to ANN's 87.45%.</a:t>
            </a:r>
            <a:endParaRPr lang="en-US" sz="1550" dirty="0"/>
          </a:p>
        </p:txBody>
      </p:sp>
      <p:sp>
        <p:nvSpPr>
          <p:cNvPr id="7" name="Shape 5"/>
          <p:cNvSpPr/>
          <p:nvPr/>
        </p:nvSpPr>
        <p:spPr>
          <a:xfrm>
            <a:off x="5207437" y="2805589"/>
            <a:ext cx="4215408" cy="2776895"/>
          </a:xfrm>
          <a:prstGeom prst="roundRect">
            <a:avLst>
              <a:gd name="adj" fmla="val 3951"/>
            </a:avLst>
          </a:prstGeom>
          <a:solidFill>
            <a:srgbClr val="F8ECE4"/>
          </a:solidFill>
          <a:ln w="22860">
            <a:solidFill>
              <a:srgbClr val="151617"/>
            </a:solidFill>
            <a:prstDash val="solid"/>
          </a:ln>
          <a:effectLst>
            <a:outerShdw dist="17780" dir="2700000" algn="bl" rotWithShape="0">
              <a:srgbClr val="151617">
                <a:alpha val="100000"/>
              </a:srgbClr>
            </a:outerShdw>
          </a:effectLst>
        </p:spPr>
        <p:txBody>
          <a:bodyPr/>
          <a:lstStyle/>
          <a:p>
            <a:endParaRPr lang="en-IN"/>
          </a:p>
        </p:txBody>
      </p:sp>
      <p:sp>
        <p:nvSpPr>
          <p:cNvPr id="8" name="Shape 6"/>
          <p:cNvSpPr/>
          <p:nvPr/>
        </p:nvSpPr>
        <p:spPr>
          <a:xfrm>
            <a:off x="5184577" y="2805589"/>
            <a:ext cx="91440" cy="2776895"/>
          </a:xfrm>
          <a:prstGeom prst="roundRect">
            <a:avLst>
              <a:gd name="adj" fmla="val 10000"/>
            </a:avLst>
          </a:prstGeom>
          <a:solidFill>
            <a:srgbClr val="151617"/>
          </a:solidFill>
          <a:ln/>
        </p:spPr>
        <p:txBody>
          <a:bodyPr/>
          <a:lstStyle/>
          <a:p>
            <a:endParaRPr lang="en-IN"/>
          </a:p>
        </p:txBody>
      </p:sp>
      <p:sp>
        <p:nvSpPr>
          <p:cNvPr id="9" name="Text 7"/>
          <p:cNvSpPr/>
          <p:nvPr/>
        </p:nvSpPr>
        <p:spPr>
          <a:xfrm>
            <a:off x="5497235" y="3026807"/>
            <a:ext cx="2985849"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Regularization Impact</a:t>
            </a:r>
            <a:endParaRPr lang="en-US" sz="1950" dirty="0"/>
          </a:p>
        </p:txBody>
      </p:sp>
      <p:sp>
        <p:nvSpPr>
          <p:cNvPr id="10" name="Text 8"/>
          <p:cNvSpPr/>
          <p:nvPr/>
        </p:nvSpPr>
        <p:spPr>
          <a:xfrm>
            <a:off x="5497235" y="3456027"/>
            <a:ext cx="3704392" cy="1587698"/>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Dropout and data augmentation significantly improved both models' performance, reducing overfitting and enhancing generalization capabilities on unseen fashion items.</a:t>
            </a:r>
            <a:endParaRPr lang="en-US" sz="1550" dirty="0"/>
          </a:p>
        </p:txBody>
      </p:sp>
      <p:sp>
        <p:nvSpPr>
          <p:cNvPr id="11" name="Shape 9"/>
          <p:cNvSpPr/>
          <p:nvPr/>
        </p:nvSpPr>
        <p:spPr>
          <a:xfrm>
            <a:off x="9621203" y="2805589"/>
            <a:ext cx="4215289" cy="2776895"/>
          </a:xfrm>
          <a:prstGeom prst="roundRect">
            <a:avLst>
              <a:gd name="adj" fmla="val 3951"/>
            </a:avLst>
          </a:prstGeom>
          <a:solidFill>
            <a:srgbClr val="F8ECE4"/>
          </a:solidFill>
          <a:ln w="22860">
            <a:solidFill>
              <a:srgbClr val="151617"/>
            </a:solidFill>
            <a:prstDash val="solid"/>
          </a:ln>
          <a:effectLst>
            <a:outerShdw dist="17780" dir="2700000" algn="bl" rotWithShape="0">
              <a:srgbClr val="151617">
                <a:alpha val="100000"/>
              </a:srgbClr>
            </a:outerShdw>
          </a:effectLst>
        </p:spPr>
        <p:txBody>
          <a:bodyPr/>
          <a:lstStyle/>
          <a:p>
            <a:endParaRPr lang="en-IN"/>
          </a:p>
        </p:txBody>
      </p:sp>
      <p:sp>
        <p:nvSpPr>
          <p:cNvPr id="12" name="Shape 10"/>
          <p:cNvSpPr/>
          <p:nvPr/>
        </p:nvSpPr>
        <p:spPr>
          <a:xfrm>
            <a:off x="9598343" y="2805589"/>
            <a:ext cx="91440" cy="2776895"/>
          </a:xfrm>
          <a:prstGeom prst="roundRect">
            <a:avLst>
              <a:gd name="adj" fmla="val 10000"/>
            </a:avLst>
          </a:prstGeom>
          <a:solidFill>
            <a:srgbClr val="151617"/>
          </a:solidFill>
          <a:ln/>
        </p:spPr>
        <p:txBody>
          <a:bodyPr/>
          <a:lstStyle/>
          <a:p>
            <a:endParaRPr lang="en-IN"/>
          </a:p>
        </p:txBody>
      </p:sp>
      <p:sp>
        <p:nvSpPr>
          <p:cNvPr id="13" name="Text 11"/>
          <p:cNvSpPr/>
          <p:nvPr/>
        </p:nvSpPr>
        <p:spPr>
          <a:xfrm>
            <a:off x="9911001" y="3026807"/>
            <a:ext cx="3300293" cy="310158"/>
          </a:xfrm>
          <a:prstGeom prst="rect">
            <a:avLst/>
          </a:prstGeom>
          <a:noFill/>
          <a:ln/>
        </p:spPr>
        <p:txBody>
          <a:bodyPr wrap="none" lIns="0" tIns="0" rIns="0" bIns="0" rtlCol="0" anchor="t"/>
          <a:lstStyle/>
          <a:p>
            <a:pPr marL="0" indent="0" algn="l">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Spatial Feature Learning</a:t>
            </a:r>
            <a:endParaRPr lang="en-US" sz="1950" dirty="0"/>
          </a:p>
        </p:txBody>
      </p:sp>
      <p:sp>
        <p:nvSpPr>
          <p:cNvPr id="14" name="Text 12"/>
          <p:cNvSpPr/>
          <p:nvPr/>
        </p:nvSpPr>
        <p:spPr>
          <a:xfrm>
            <a:off x="9911001" y="3456027"/>
            <a:ext cx="3704273" cy="1905238"/>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The CNN's convolutional and pooling layers enabled hierarchical representation learning, allowing it to distinguish between visually similar classes more effectively than feedforward ANNs.</a:t>
            </a:r>
            <a:endParaRPr lang="en-US" sz="1550" dirty="0"/>
          </a:p>
        </p:txBody>
      </p:sp>
      <p:sp>
        <p:nvSpPr>
          <p:cNvPr id="15" name="Text 13"/>
          <p:cNvSpPr/>
          <p:nvPr/>
        </p:nvSpPr>
        <p:spPr>
          <a:xfrm>
            <a:off x="793790" y="580572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This work demonstrates that CNNs combined with regularization techniques represent the optimal approach for fashion image classification, with confusion matrix analysis confirming superior pattern recognition capabilities.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951911"/>
            <a:ext cx="9203888" cy="620078"/>
          </a:xfrm>
          <a:prstGeom prst="rect">
            <a:avLst/>
          </a:prstGeom>
          <a:noFill/>
          <a:ln/>
        </p:spPr>
        <p:txBody>
          <a:bodyPr wrap="none" lIns="0" tIns="0" rIns="0" bIns="0" rtlCol="0" anchor="t"/>
          <a:lstStyle/>
          <a:p>
            <a:pPr marL="0" indent="0" algn="l">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Future Work &amp; Acknowledgments</a:t>
            </a:r>
            <a:endParaRPr lang="en-US" sz="3900" dirty="0"/>
          </a:p>
        </p:txBody>
      </p:sp>
      <p:sp>
        <p:nvSpPr>
          <p:cNvPr id="3" name="Text 1"/>
          <p:cNvSpPr/>
          <p:nvPr/>
        </p:nvSpPr>
        <p:spPr>
          <a:xfrm>
            <a:off x="793790" y="306800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Future Directions</a:t>
            </a:r>
            <a:endParaRPr lang="en-US" sz="2300" dirty="0"/>
          </a:p>
        </p:txBody>
      </p:sp>
      <p:sp>
        <p:nvSpPr>
          <p:cNvPr id="4" name="Text 2"/>
          <p:cNvSpPr/>
          <p:nvPr/>
        </p:nvSpPr>
        <p:spPr>
          <a:xfrm>
            <a:off x="793790" y="363843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Experiment with deeper CNN architectures like ResNet or VGG</a:t>
            </a:r>
            <a:endParaRPr lang="en-US" sz="1550" dirty="0"/>
          </a:p>
        </p:txBody>
      </p:sp>
      <p:sp>
        <p:nvSpPr>
          <p:cNvPr id="5" name="Text 3"/>
          <p:cNvSpPr/>
          <p:nvPr/>
        </p:nvSpPr>
        <p:spPr>
          <a:xfrm>
            <a:off x="793790" y="402538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Implement transfer learning from pre-trained models</a:t>
            </a:r>
            <a:endParaRPr lang="en-US" sz="1550" dirty="0"/>
          </a:p>
        </p:txBody>
      </p:sp>
      <p:sp>
        <p:nvSpPr>
          <p:cNvPr id="6" name="Text 4"/>
          <p:cNvSpPr/>
          <p:nvPr/>
        </p:nvSpPr>
        <p:spPr>
          <a:xfrm>
            <a:off x="793790" y="441233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Explore ensemble methods combining multiple models</a:t>
            </a:r>
            <a:endParaRPr lang="en-US" sz="1550" dirty="0"/>
          </a:p>
        </p:txBody>
      </p:sp>
      <p:sp>
        <p:nvSpPr>
          <p:cNvPr id="7" name="Text 5"/>
          <p:cNvSpPr/>
          <p:nvPr/>
        </p:nvSpPr>
        <p:spPr>
          <a:xfrm>
            <a:off x="793790" y="4799290"/>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Test additional augmentation techniques for improved robustness</a:t>
            </a:r>
            <a:endParaRPr lang="en-US" sz="1550" dirty="0"/>
          </a:p>
        </p:txBody>
      </p:sp>
      <p:sp>
        <p:nvSpPr>
          <p:cNvPr id="8" name="Text 6"/>
          <p:cNvSpPr/>
          <p:nvPr/>
        </p:nvSpPr>
        <p:spPr>
          <a:xfrm>
            <a:off x="793790" y="550378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Extend analysis to color fashion datasets</a:t>
            </a:r>
            <a:endParaRPr lang="en-US" sz="1550" dirty="0"/>
          </a:p>
        </p:txBody>
      </p:sp>
      <p:sp>
        <p:nvSpPr>
          <p:cNvPr id="9" name="Text 7"/>
          <p:cNvSpPr/>
          <p:nvPr/>
        </p:nvSpPr>
        <p:spPr>
          <a:xfrm>
            <a:off x="793790" y="589073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1617"/>
                </a:solidFill>
                <a:latin typeface="Inconsolata" pitchFamily="34" charset="0"/>
                <a:ea typeface="Inconsolata" pitchFamily="34" charset="-122"/>
                <a:cs typeface="Inconsolata" pitchFamily="34" charset="-120"/>
              </a:rPr>
              <a:t>Investigate attention mechanisms for interpretability</a:t>
            </a:r>
            <a:endParaRPr lang="en-US" sz="1550" dirty="0"/>
          </a:p>
        </p:txBody>
      </p:sp>
      <p:sp>
        <p:nvSpPr>
          <p:cNvPr id="10" name="Text 8"/>
          <p:cNvSpPr/>
          <p:nvPr/>
        </p:nvSpPr>
        <p:spPr>
          <a:xfrm>
            <a:off x="7564874" y="3068003"/>
            <a:ext cx="3062883" cy="372070"/>
          </a:xfrm>
          <a:prstGeom prst="rect">
            <a:avLst/>
          </a:prstGeom>
          <a:noFill/>
          <a:ln/>
        </p:spPr>
        <p:txBody>
          <a:bodyPr wrap="none" lIns="0" tIns="0" rIns="0" bIns="0" rtlCol="0" anchor="t"/>
          <a:lstStyle/>
          <a:p>
            <a:pPr marL="0" indent="0" algn="l">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Acknowledgments</a:t>
            </a:r>
            <a:endParaRPr lang="en-US" sz="2300" dirty="0"/>
          </a:p>
        </p:txBody>
      </p:sp>
      <p:sp>
        <p:nvSpPr>
          <p:cNvPr id="11" name="Text 9"/>
          <p:cNvSpPr/>
          <p:nvPr/>
        </p:nvSpPr>
        <p:spPr>
          <a:xfrm>
            <a:off x="7564874" y="3638431"/>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Special thanks to the Neural Systems course instructors for guidance throughout this project. Gratitude to the PyTorch and torchvision communities for providing excellent tools and documentation.</a:t>
            </a:r>
            <a:endParaRPr lang="en-US" sz="1550" dirty="0"/>
          </a:p>
        </p:txBody>
      </p:sp>
      <p:sp>
        <p:nvSpPr>
          <p:cNvPr id="12" name="Text 10"/>
          <p:cNvSpPr/>
          <p:nvPr/>
        </p:nvSpPr>
        <p:spPr>
          <a:xfrm>
            <a:off x="7564874" y="5087183"/>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The Fashion MNIST dataset creators deserve recognition for providing a valuable benchmark for machine learning research.</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946553"/>
            <a:ext cx="7556421" cy="3721179"/>
          </a:xfrm>
          <a:prstGeom prst="rect">
            <a:avLst/>
          </a:prstGeom>
          <a:noFill/>
          <a:ln/>
        </p:spPr>
        <p:txBody>
          <a:bodyPr wrap="square" lIns="0" tIns="0" rIns="0" bIns="0" rtlCol="0" anchor="t"/>
          <a:lstStyle/>
          <a:p>
            <a:pPr marL="0" indent="0" algn="l">
              <a:lnSpc>
                <a:spcPts val="14650"/>
              </a:lnSpc>
              <a:buNone/>
            </a:pPr>
            <a:r>
              <a:rPr lang="en-US" sz="11700" b="1" dirty="0">
                <a:solidFill>
                  <a:srgbClr val="151617"/>
                </a:solidFill>
                <a:latin typeface="Montserrat Black" pitchFamily="34" charset="0"/>
                <a:ea typeface="Montserrat Black" pitchFamily="34" charset="-122"/>
                <a:cs typeface="Montserrat Black" pitchFamily="34" charset="-120"/>
              </a:rPr>
              <a:t>Thank You</a:t>
            </a:r>
            <a:endParaRPr lang="en-US" sz="11700" dirty="0"/>
          </a:p>
        </p:txBody>
      </p:sp>
      <p:sp>
        <p:nvSpPr>
          <p:cNvPr id="4" name="Text 1"/>
          <p:cNvSpPr/>
          <p:nvPr/>
        </p:nvSpPr>
        <p:spPr>
          <a:xfrm>
            <a:off x="793790" y="5965388"/>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151617"/>
                </a:solidFill>
                <a:latin typeface="Inconsolata" pitchFamily="34" charset="0"/>
                <a:ea typeface="Inconsolata" pitchFamily="34" charset="-122"/>
                <a:cs typeface="Inconsolata" pitchFamily="34" charset="-120"/>
              </a:rPr>
              <a:t>Questions &amp; Discussion Welcome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867</Words>
  <Application>Microsoft Office PowerPoint</Application>
  <PresentationFormat>Custom</PresentationFormat>
  <Paragraphs>107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Montserrat Black</vt:lpstr>
      <vt:lpstr>Inconsolata</vt:lpstr>
      <vt:lpstr>Montserrat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lastModifiedBy>Jahnavi Kodi</cp:lastModifiedBy>
  <cp:revision>2</cp:revision>
  <dcterms:created xsi:type="dcterms:W3CDTF">2025-11-02T16:35:21Z</dcterms:created>
  <dcterms:modified xsi:type="dcterms:W3CDTF">2025-11-02T17:13:53Z</dcterms:modified>
</cp:coreProperties>
</file>